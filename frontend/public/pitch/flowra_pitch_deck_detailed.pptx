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563EB"/>
                </a:solidFill>
                <a:latin typeface="Calibri"/>
              </a:rPr>
              <a:t>MANTHAN X FOUNDERS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058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400" b="1">
                <a:solidFill>
                  <a:srgbClr val="0F1B4C"/>
                </a:solidFill>
                <a:latin typeface="Calibri"/>
              </a:rPr>
              <a:t>FLOWRA Insights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>
                <a:solidFill>
                  <a:srgbClr val="2563EB"/>
                </a:solidFill>
                <a:latin typeface="Calibri"/>
              </a:rPr>
              <a:t>Organize. Automate. Accelerate.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·  An AI-first operating system for Indian SMEs running Tally / Busy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48056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·  Made by Jodidar India, Raipur, Chhattisgarh, India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8463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·  Founder: Ankit Sarawgi  ·  Team: Punit · Kritika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212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·  Pitched at: Manthan X Founders</a:t>
            </a:r>
          </a:p>
        </p:txBody>
      </p:sp>
      <p:pic>
        <p:nvPicPr>
          <p:cNvPr id="11" name="Picture 10" descr="flowra-salesman-post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1280160"/>
            <a:ext cx="2926080" cy="29260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64748B"/>
                </a:solidFill>
                <a:latin typeface="Calibri"/>
              </a:rPr>
              <a:t>Jodidar India · FLOWRA Insights · Organize. Automate. Accelerate.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Calibri"/>
              </a:rPr>
              <a:t>Detailed  ·  Slide 2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515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0F1B4C"/>
                </a:solidFill>
                <a:latin typeface="Calibri"/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74519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563EB"/>
                </a:solidFill>
                <a:latin typeface="Calibri"/>
              </a:rPr>
              <a:t>10 million Indian SMEs run their books on Tally / Busy — and are stuck there.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807208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69748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F1B4C"/>
                </a:solidFill>
                <a:latin typeface="Calibri"/>
              </a:rPr>
              <a:t>Tally / Busy were built in the 1990s — desktop-only, single-machine, no analytics layer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264408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15468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F1B4C"/>
                </a:solidFill>
                <a:latin typeface="Calibri"/>
              </a:rPr>
              <a:t>Owners can't see live sales, stock, dispatch or salesman performance unless they sit at the office machine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721608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361188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F1B4C"/>
                </a:solidFill>
                <a:latin typeface="Calibri"/>
              </a:rPr>
              <a:t>Field salesmen capture orders on paper / WhatsApp → 2–4 day data lag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4178808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406908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F1B4C"/>
                </a:solidFill>
                <a:latin typeface="Calibri"/>
              </a:rPr>
              <a:t>Dispatch &amp; receivables are manual — papers move from desk to desk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" y="4636008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52628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F1B4C"/>
                </a:solidFill>
                <a:latin typeface="Calibri"/>
              </a:rPr>
              <a:t>Hindi-English bilingual + low-bandwidth realities are ignored by most SaaS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5166360"/>
            <a:ext cx="10698480" cy="109728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25780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0F1B4C"/>
                </a:solidFill>
                <a:latin typeface="Calibri"/>
              </a:rPr>
              <a:t>Indian MSMEs contribute ~30% of GDP. Almost every one of them uses Tally ERP 9 / Tally Prime or Busy as their book of record — but those systems were never designed for the smartphone era. The result is a structural blind-spot: the owner knows what was in his books last Saturday, not what his salesman or godown did this morning.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64748B"/>
                </a:solidFill>
                <a:latin typeface="Calibri"/>
              </a:rPr>
              <a:t>Jodidar India · FLOWRA Insights · Organize. Automate. Accelerate.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Calibri"/>
              </a:rPr>
              <a:t>Detailed  ·  Slide 3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515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0F1B4C"/>
                </a:solidFill>
                <a:latin typeface="Calibri"/>
              </a:rPr>
              <a:t>The Opportunity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74519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563EB"/>
                </a:solidFill>
                <a:latin typeface="Calibri"/>
              </a:rPr>
              <a:t>₹15,000 Cr SME-software TAM in India by 2027.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807208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69748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F1B4C"/>
                </a:solidFill>
                <a:latin typeface="Calibri"/>
              </a:rPr>
              <a:t>TAM — 10 M+ active SMEs on Tally / Busy across India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264408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15468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F1B4C"/>
                </a:solidFill>
                <a:latin typeface="Calibri"/>
              </a:rPr>
              <a:t>SAM — 1.5 M SMEs with ≥3 employees and a smartphone-using owner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721608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361188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F1B4C"/>
                </a:solidFill>
                <a:latin typeface="Calibri"/>
              </a:rPr>
              <a:t>SOM — 50 K early-adopter SMEs in Tier-2 &amp; Tier-3 cities (Year 1 wedge)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4178808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406908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F1B4C"/>
                </a:solidFill>
                <a:latin typeface="Calibri"/>
              </a:rPr>
              <a:t>Tailwind — Digital India, ONDC, GST 3.0, Account Aggregator → SME digitization is now policy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5166360"/>
            <a:ext cx="10698480" cy="109728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25780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0F1B4C"/>
                </a:solidFill>
                <a:latin typeface="Calibri"/>
              </a:rPr>
              <a:t>We are NOT competing with Tally — we sit ON TOP of it. The Tally Sync Agent reads vouchers, stock, masters, ledgers via Tally's own ODBC / TDL XML protocol. Zero workflow change for the accountant. Owner gets the cloud + AI + mobile layer.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64748B"/>
                </a:solidFill>
                <a:latin typeface="Calibri"/>
              </a:rPr>
              <a:t>Jodidar India · FLOWRA Insights · Organize. Automate. Accelerate.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Calibri"/>
              </a:rPr>
              <a:t>Detailed  ·  Slide 4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515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0F1B4C"/>
                </a:solidFill>
                <a:latin typeface="Calibri"/>
              </a:rPr>
              <a:t>The Solution — FLOWRA Insights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74519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563EB"/>
                </a:solidFill>
                <a:latin typeface="Calibri"/>
              </a:rPr>
              <a:t>One cloud layer that sees everything Tally / Busy sees — plus AI on top.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807208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69748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F1B4C"/>
                </a:solidFill>
                <a:latin typeface="Calibri"/>
              </a:rPr>
              <a:t>Lightweight Windows agent reads Tally / Busy in real time (no manual export)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264408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15468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F1B4C"/>
                </a:solidFill>
                <a:latin typeface="Calibri"/>
              </a:rPr>
              <a:t>Multi-company, multi-branch, multi-FY ready out of the box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721608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361188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F1B4C"/>
                </a:solidFill>
                <a:latin typeface="Calibri"/>
              </a:rPr>
              <a:t>Mobile-first dashboards for the owner, salesman, dispatch &amp; CA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4178808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406908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F1B4C"/>
                </a:solidFill>
                <a:latin typeface="Calibri"/>
              </a:rPr>
              <a:t>AI Insights powered by Gemini &amp; GPT-5 — explains numbers in plain Hindi/English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" y="4636008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52628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F1B4C"/>
                </a:solidFill>
                <a:latin typeface="Calibri"/>
              </a:rPr>
              <a:t>100% Indian data residency — Mumbai region MongoDB Atlas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5166360"/>
            <a:ext cx="10698480" cy="109728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25780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0F1B4C"/>
                </a:solidFill>
                <a:latin typeface="Calibri"/>
              </a:rPr>
              <a:t>Plug-and-play: install agent → log in → 30-second sync of last 3 years of data. The agent auto-updates from our manifest. Every API endpoint enforces tenant isolation; no two customer's data can ever cross.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64748B"/>
                </a:solidFill>
                <a:latin typeface="Calibri"/>
              </a:rPr>
              <a:t>Jodidar India · FLOWRA Insights · Organize. Automate. Accelerate.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Calibri"/>
              </a:rPr>
              <a:t>Detailed  ·  Slide 5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515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0F1B4C"/>
                </a:solidFill>
                <a:latin typeface="Calibri"/>
              </a:rPr>
              <a:t>The Suite — 8 Integrated Modules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74519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563EB"/>
                </a:solidFill>
                <a:latin typeface="Calibri"/>
              </a:rPr>
              <a:t>Each module ships value on day 1; together they replace 6–8 disjoint tools.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807208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69748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F1B4C"/>
                </a:solidFill>
                <a:latin typeface="Calibri"/>
              </a:rPr>
              <a:t>1. Sales &amp; Receivables — live aging, top customers, collection nudges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264408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15468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F1B4C"/>
                </a:solidFill>
                <a:latin typeface="Calibri"/>
              </a:rPr>
              <a:t>2. Inventory &amp; Stock — ABC, reorder, multi-group filters, PO generation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721608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361188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F1B4C"/>
                </a:solidFill>
                <a:latin typeface="Calibri"/>
              </a:rPr>
              <a:t>3. Salesman App — beat plans, daily check-ins, order &amp; payment capture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4178808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406908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F1B4C"/>
                </a:solidFill>
                <a:latin typeface="Calibri"/>
              </a:rPr>
              <a:t>4. Dispatch Terminal — Kanban board, LR / Bilty upload, porter assignment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" y="4636008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52628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F1B4C"/>
                </a:solidFill>
                <a:latin typeface="Calibri"/>
              </a:rPr>
              <a:t>5. CA Corner — TDS, GST, balance-sheet reconciliation, journal nudges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5093208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498348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F1B4C"/>
                </a:solidFill>
                <a:latin typeface="Calibri"/>
              </a:rPr>
              <a:t>6. AI Insights — natural-language Q&amp;A on your own books</a:t>
            </a:r>
          </a:p>
        </p:txBody>
      </p:sp>
      <p:sp>
        <p:nvSpPr>
          <p:cNvPr id="19" name="Oval 18"/>
          <p:cNvSpPr/>
          <p:nvPr/>
        </p:nvSpPr>
        <p:spPr>
          <a:xfrm>
            <a:off x="777240" y="5550408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544068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F1B4C"/>
                </a:solidFill>
                <a:latin typeface="Calibri"/>
              </a:rPr>
              <a:t>7. FLOWRA Tasks — task &amp; workflow assignment across roles</a:t>
            </a:r>
          </a:p>
        </p:txBody>
      </p:sp>
      <p:sp>
        <p:nvSpPr>
          <p:cNvPr id="21" name="Oval 20"/>
          <p:cNvSpPr/>
          <p:nvPr/>
        </p:nvSpPr>
        <p:spPr>
          <a:xfrm>
            <a:off x="777240" y="6007608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589788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F1B4C"/>
                </a:solidFill>
                <a:latin typeface="Calibri"/>
              </a:rPr>
              <a:t>8. FLOWRA Loyalty — built-in customer-rewards engine for SMEs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5166360"/>
            <a:ext cx="10698480" cy="109728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25780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0F1B4C"/>
                </a:solidFill>
                <a:latin typeface="Calibri"/>
              </a:rPr>
              <a:t>Modules share a unified data model — a sales voucher captured by the salesman flows instantly into Sales reports, Dispatch board, CA reconciliation and the Loyalty points ledger. One source of truth, eight surfaces.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64748B"/>
                </a:solidFill>
                <a:latin typeface="Calibri"/>
              </a:rPr>
              <a:t>Jodidar India · FLOWRA Insights · Organize. Automate. Accelerate.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Calibri"/>
              </a:rPr>
              <a:t>Detailed  ·  Slide 6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515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0F1B4C"/>
                </a:solidFill>
                <a:latin typeface="Calibri"/>
              </a:rPr>
              <a:t>Differentiators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74519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563EB"/>
                </a:solidFill>
                <a:latin typeface="Calibri"/>
              </a:rPr>
              <a:t>Why not just build it in Tally / Excel / Zoho?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807208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69748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F1B4C"/>
                </a:solidFill>
                <a:latin typeface="Calibri"/>
              </a:rPr>
              <a:t>Tally-native — no double-entry, no CSV imports, no workflow change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264408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15468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F1B4C"/>
                </a:solidFill>
                <a:latin typeface="Calibri"/>
              </a:rPr>
              <a:t>Bilingual UI — English + Hindi, Tier-2/Tier-3 ready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721608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361188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F1B4C"/>
                </a:solidFill>
                <a:latin typeface="Calibri"/>
              </a:rPr>
              <a:t>Multi-tenant SaaS — full data isolation, GST-compliant audit trail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4178808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406908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F1B4C"/>
                </a:solidFill>
                <a:latin typeface="Calibri"/>
              </a:rPr>
              <a:t>AI layer — GPT-5 + Gemini, explains receivables / inventory in plain language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" y="4636008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52628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F1B4C"/>
                </a:solidFill>
                <a:latin typeface="Calibri"/>
              </a:rPr>
              <a:t>FLOWRA Tasks &amp; Loyalty — value-adds Tally / Zoho simply don't have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5093208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498348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F1B4C"/>
                </a:solidFill>
                <a:latin typeface="Calibri"/>
              </a:rPr>
              <a:t>Made-in-India price points — fraction of Salesforce / Zoho One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5166360"/>
            <a:ext cx="10698480" cy="109728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25780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0F1B4C"/>
                </a:solidFill>
                <a:latin typeface="Calibri"/>
              </a:rPr>
              <a:t>Competitors fall into 3 camps: (a) Tally add-ons that still need a desktop; (b) global SaaS like Zoho / Salesforce that ignore Tally; (c) standalone ERPs that demand migration. FLOWRA sits in the white-space — Tally-native, cloud-mobile, AI-aware, and priced for India.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64748B"/>
                </a:solidFill>
                <a:latin typeface="Calibri"/>
              </a:rPr>
              <a:t>Jodidar India · FLOWRA Insights · Organize. Automate. Accelerate.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Calibri"/>
              </a:rPr>
              <a:t>Detailed  ·  Slide 7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515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0F1B4C"/>
                </a:solidFill>
                <a:latin typeface="Calibri"/>
              </a:rPr>
              <a:t>FLOWRA Tasks — Roles, Reminders, Accountability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74519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563EB"/>
                </a:solidFill>
                <a:latin typeface="Calibri"/>
              </a:rPr>
              <a:t>A built-in operations layer for the owner and the team.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807208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69748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F1B4C"/>
                </a:solidFill>
                <a:latin typeface="Calibri"/>
              </a:rPr>
              <a:t>Assign tasks to salesman, dispatch, CA, or any employee — by name or by role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264408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15468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F1B4C"/>
                </a:solidFill>
                <a:latin typeface="Calibri"/>
              </a:rPr>
              <a:t>Recurring tasks (weekly stock count, monthly GSTR, daily bank reco)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721608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361188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F1B4C"/>
                </a:solidFill>
                <a:latin typeface="Calibri"/>
              </a:rPr>
              <a:t>Tally-data-aware triggers — auto-create a task when receivables cross a threshold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4178808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406908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F1B4C"/>
                </a:solidFill>
                <a:latin typeface="Calibri"/>
              </a:rPr>
              <a:t>Mobile push + WhatsApp reminders (roadmap)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" y="4636008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52628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F1B4C"/>
                </a:solidFill>
                <a:latin typeface="Calibri"/>
              </a:rPr>
              <a:t>Full audit trail — who did what, when, with proof attachment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5166360"/>
            <a:ext cx="10698480" cy="109728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25780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0F1B4C"/>
                </a:solidFill>
                <a:latin typeface="Calibri"/>
              </a:rPr>
              <a:t>Tasks isn't a generic to-do list. Every task can be linked to a Tally voucher, customer, or item — so closing a task automatically updates the relevant FLOWRA report. Think Asana, but it actually knows your books.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64748B"/>
                </a:solidFill>
                <a:latin typeface="Calibri"/>
              </a:rPr>
              <a:t>Jodidar India · FLOWRA Insights · Organize. Automate. Accelerate.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Calibri"/>
              </a:rPr>
              <a:t>Detailed  ·  Slide 8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515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0F1B4C"/>
                </a:solidFill>
                <a:latin typeface="Calibri"/>
              </a:rPr>
              <a:t>FLOWRA Loyalty — Reward Programs, Built-In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74519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563EB"/>
                </a:solidFill>
                <a:latin typeface="Calibri"/>
              </a:rPr>
              <a:t>Turn one-time buyers into repeat customers without a separate tool.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807208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69748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F1B4C"/>
                </a:solidFill>
                <a:latin typeface="Calibri"/>
              </a:rPr>
              <a:t>Points engine — auto-credit on every Tally sales voucher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264408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15468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F1B4C"/>
                </a:solidFill>
                <a:latin typeface="Calibri"/>
              </a:rPr>
              <a:t>Tiers — Silver / Gold / Platinum with tenant-defined rules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721608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361188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F1B4C"/>
                </a:solidFill>
                <a:latin typeface="Calibri"/>
              </a:rPr>
              <a:t>Redemption — discount coupon or cash-back against next invoice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4178808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406908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F1B4C"/>
                </a:solidFill>
                <a:latin typeface="Calibri"/>
              </a:rPr>
              <a:t>Customer-facing WhatsApp / SMS / email card (roadmap)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" y="4636008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52628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F1B4C"/>
                </a:solidFill>
                <a:latin typeface="Calibri"/>
              </a:rPr>
              <a:t>Owner dashboard — top loyal customers, churn-risk customers, lifetime value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5166360"/>
            <a:ext cx="10698480" cy="109728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25780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0F1B4C"/>
                </a:solidFill>
                <a:latin typeface="Calibri"/>
              </a:rPr>
              <a:t>Indian SMEs lose ~25-30% of their customer base every year because they have no structured retention play. FLOWRA Loyalty fixes that — without forcing the owner to subscribe to a separate platform like LoyaltyXpert, Capillary or Easyrewardz.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64748B"/>
                </a:solidFill>
                <a:latin typeface="Calibri"/>
              </a:rPr>
              <a:t>Jodidar India · FLOWRA Insights · Organize. Automate. Accelerate.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Calibri"/>
              </a:rPr>
              <a:t>Detailed  ·  Slide 9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515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0F1B4C"/>
                </a:solidFill>
                <a:latin typeface="Calibri"/>
              </a:rPr>
              <a:t>How It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74519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563EB"/>
                </a:solidFill>
                <a:latin typeface="Calibri"/>
              </a:rPr>
              <a:t>5 steps from sign-up to first AI insight — under 10 minutes.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807208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69748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F1B4C"/>
                </a:solidFill>
                <a:latin typeface="Calibri"/>
              </a:rPr>
              <a:t>1. Owner signs up at flowralive.in (free 7-day trial)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264408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15468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F1B4C"/>
                </a:solidFill>
                <a:latin typeface="Calibri"/>
              </a:rPr>
              <a:t>2. Downloads the FLOWRA Tally Sync Agent (10 MB Windows .exe)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721608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361188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F1B4C"/>
                </a:solidFill>
                <a:latin typeface="Calibri"/>
              </a:rPr>
              <a:t>3. Agent reads Tally vouchers + masters in real time via official TDL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4178808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406908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F1B4C"/>
                </a:solidFill>
                <a:latin typeface="Calibri"/>
              </a:rPr>
              <a:t>4. Data lands in encrypted Mumbai-region MongoDB Atlas (multi-tenant)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" y="4636008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52628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F1B4C"/>
                </a:solidFill>
                <a:latin typeface="Calibri"/>
              </a:rPr>
              <a:t>5. Dashboards + AI Insights + mobile apps light up instantly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5166360"/>
            <a:ext cx="10698480" cy="109728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25780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0F1B4C"/>
                </a:solidFill>
                <a:latin typeface="Calibri"/>
              </a:rPr>
              <a:t>The Sync Agent is the moat. It auto-discovers companies, handles Tally Prime 7.0's new AlterID protocol, supports multi-FY, and auto-updates itself from a signed manifest. Customers don't touch their accountant's setup.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64748B"/>
                </a:solidFill>
                <a:latin typeface="Calibri"/>
              </a:rPr>
              <a:t>Jodidar India · FLOWRA Insights · Organize. Automate. Accelerate.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Calibri"/>
              </a:rPr>
              <a:t>Detailed  ·  Slide 10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515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0F1B4C"/>
                </a:solidFill>
                <a:latin typeface="Calibri"/>
              </a:rPr>
              <a:t>Where We 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74519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563EB"/>
                </a:solidFill>
                <a:latin typeface="Calibri"/>
              </a:rPr>
              <a:t>Live with pilot customers — feedback-driven product.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807208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69748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F1B4C"/>
                </a:solidFill>
                <a:latin typeface="Calibri"/>
              </a:rPr>
              <a:t>Pilot customers across automobile, electrical, textile &amp; lubricant verticals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264408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15468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F1B4C"/>
                </a:solidFill>
                <a:latin typeface="Calibri"/>
              </a:rPr>
              <a:t>100K+ Tally vouchers processed in pilots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721608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361188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F1B4C"/>
                </a:solidFill>
                <a:latin typeface="Calibri"/>
              </a:rPr>
              <a:t>v9.8.28 desktop agent — Tally Prime 7.0 compatible, hot-update channel live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4178808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406908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F1B4C"/>
                </a:solidFill>
                <a:latin typeface="Calibri"/>
              </a:rPr>
              <a:t>111 product iterations shipped; 101/101 automated tests green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" y="4636008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52628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F1B4C"/>
                </a:solidFill>
                <a:latin typeface="Calibri"/>
              </a:rPr>
              <a:t>Bilingual marketing posters + landing page ready (flowralive.in)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5166360"/>
            <a:ext cx="10698480" cy="109728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25780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0F1B4C"/>
                </a:solidFill>
                <a:latin typeface="Calibri"/>
              </a:rPr>
              <a:t>We deliberately picked pilot customers across 4 verticals to harden multi-tenant, multi-company and bilingual edge cases before scale-up. Their daily feedback drives the public roadmap on the website.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64748B"/>
                </a:solidFill>
                <a:latin typeface="Calibri"/>
              </a:rPr>
              <a:t>Jodidar India · FLOWRA Insights · Organize. Automate. Accelerate.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Calibri"/>
              </a:rPr>
              <a:t>Detailed  ·  Slide 11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515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0F1B4C"/>
                </a:solidFill>
                <a:latin typeface="Calibri"/>
              </a:rPr>
              <a:t>Business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74519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563EB"/>
                </a:solidFill>
                <a:latin typeface="Calibri"/>
              </a:rPr>
              <a:t>Subscription SaaS · per company · per user · annual upfront.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807208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69748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F1B4C"/>
                </a:solidFill>
                <a:latin typeface="Calibri"/>
              </a:rPr>
              <a:t>Tiered subscription: Starter / Growth / Enterprise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264408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15468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F1B4C"/>
                </a:solidFill>
                <a:latin typeface="Calibri"/>
              </a:rPr>
              <a:t>Per-additional-user pricing for salesman &amp; dispatch logins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721608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361188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F1B4C"/>
                </a:solidFill>
                <a:latin typeface="Calibri"/>
              </a:rPr>
              <a:t>Add-on revenue: WhatsApp credits, AI Calling minutes, GST filing assistance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4178808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406908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F1B4C"/>
                </a:solidFill>
                <a:latin typeface="Calibri"/>
              </a:rPr>
              <a:t>Pricing — currently pilot test going on; commercial rollout post-pilot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" y="4636008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52628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F1B4C"/>
                </a:solidFill>
                <a:latin typeface="Calibri"/>
              </a:rPr>
              <a:t>Sticky integration → low expected churn once a tenant onboards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5166360"/>
            <a:ext cx="10698480" cy="109728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25780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0F1B4C"/>
                </a:solidFill>
                <a:latin typeface="Calibri"/>
              </a:rPr>
              <a:t>Once a tenant maps its Tally companies, customers, salesmen and loyalty rules into FLOWRA, the cost of switching to another tool is high. We expect &lt;5% annual churn based on comparable Indian SaaS benchmarks (Vyapar, RazorpayX Payroll).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64748B"/>
                </a:solidFill>
                <a:latin typeface="Calibri"/>
              </a:rPr>
              <a:t>Jodidar India · FLOWRA Insights · Organize. Automate. Accelerate.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Calibri"/>
              </a:rPr>
              <a:t>Detailed  ·  Slide 12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515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0F1B4C"/>
                </a:solidFill>
                <a:latin typeface="Calibri"/>
              </a:rPr>
              <a:t>Go-to-Market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74519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563EB"/>
                </a:solidFill>
                <a:latin typeface="Calibri"/>
              </a:rPr>
              <a:t>Three concentric circles — CA → Tally Partner → SME owner.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807208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69748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F1B4C"/>
                </a:solidFill>
                <a:latin typeface="Calibri"/>
              </a:rPr>
              <a:t>1. Partner-led — Chartered Accountants + Tally Partners channel (revenue share)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264408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15468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F1B4C"/>
                </a:solidFill>
                <a:latin typeface="Calibri"/>
              </a:rPr>
              <a:t>2. Self-serve — Hindi/English landing page, 7-day free trial, no credit card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721608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361188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F1B4C"/>
                </a:solidFill>
                <a:latin typeface="Calibri"/>
              </a:rPr>
              <a:t>3. Community-led — Tier-2/3 owner communities, WhatsApp groups, local conclaves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4178808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406908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F1B4C"/>
                </a:solidFill>
                <a:latin typeface="Calibri"/>
              </a:rPr>
              <a:t>4. Content — bilingual demo videos, GST/TDS explainers, AI-insight walkthroughs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" y="4636008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52628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F1B4C"/>
                </a:solidFill>
                <a:latin typeface="Calibri"/>
              </a:rPr>
              <a:t>5. Referral engine — built-in referral codes for existing users (live in product)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5166360"/>
            <a:ext cx="10698480" cy="109728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25780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0F1B4C"/>
                </a:solidFill>
                <a:latin typeface="Calibri"/>
              </a:rPr>
              <a:t>Indian SMEs trust their CA more than any marketer. We turn the CA into FLOWRA's first champion — they get a Corner of their own (CA Corner module), and a revenue share when their clients subscribe.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64748B"/>
                </a:solidFill>
                <a:latin typeface="Calibri"/>
              </a:rPr>
              <a:t>Jodidar India · FLOWRA Insights · Organize. Automate. Accelerate.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Calibri"/>
              </a:rPr>
              <a:t>Detailed  ·  Slide 13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515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0F1B4C"/>
                </a:solidFill>
                <a:latin typeface="Calibri"/>
              </a:rPr>
              <a:t>Tech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74519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563EB"/>
                </a:solidFill>
                <a:latin typeface="Calibri"/>
              </a:rPr>
              <a:t>Modern, multi-tenant, India-first.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807208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69748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F1B4C"/>
                </a:solidFill>
                <a:latin typeface="Calibri"/>
              </a:rPr>
              <a:t>Frontend — React 19 + Tailwind, mobile-first, bilingual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264408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15468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F1B4C"/>
                </a:solidFill>
                <a:latin typeface="Calibri"/>
              </a:rPr>
              <a:t>Backend — Python FastAPI, async, hot-reload, modular routes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721608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361188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F1B4C"/>
                </a:solidFill>
                <a:latin typeface="Calibri"/>
              </a:rPr>
              <a:t>DB — MongoDB Atlas (Mumbai region) with full tenant isolation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4178808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406908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F1B4C"/>
                </a:solidFill>
                <a:latin typeface="Calibri"/>
              </a:rPr>
              <a:t>Desktop Agent — Windows Python + PyInstaller, signed .exe, auto-update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" y="4636008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52628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F1B4C"/>
                </a:solidFill>
                <a:latin typeface="Calibri"/>
              </a:rPr>
              <a:t>AI — Gemini 3 + GPT-5 + nano-banana via Emergent integrations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5093208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498348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F1B4C"/>
                </a:solidFill>
                <a:latin typeface="Calibri"/>
              </a:rPr>
              <a:t>Hosting — DigitalOcean droplet, Nginx + Supervisor, encrypted at rest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5166360"/>
            <a:ext cx="10698480" cy="109728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25780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0F1B4C"/>
                </a:solidFill>
                <a:latin typeface="Calibri"/>
              </a:rPr>
              <a:t>We chose Python + React + MongoDB so a small founding team can ship daily. Multi-tenant isolation is enforced at every query; no application code can ever leak data across tenants. All secrets are in environment variables, not in code.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64748B"/>
                </a:solidFill>
                <a:latin typeface="Calibri"/>
              </a:rPr>
              <a:t>Jodidar India · FLOWRA Insights · Organize. Automate. Accelerate.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Calibri"/>
              </a:rPr>
              <a:t>Detailed  ·  Slide 14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515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0F1B4C"/>
                </a:solidFill>
                <a:latin typeface="Calibri"/>
              </a:rPr>
              <a:t>The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74519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563EB"/>
                </a:solidFill>
                <a:latin typeface="Calibri"/>
              </a:rPr>
              <a:t>Small, founder-led, ship-every-day culture.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807208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69748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F1B4C"/>
                </a:solidFill>
                <a:latin typeface="Calibri"/>
              </a:rPr>
              <a:t>Ankit Sarawgi — Founder, Product &amp; Strategy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264408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15468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F1B4C"/>
                </a:solidFill>
                <a:latin typeface="Calibri"/>
              </a:rPr>
              <a:t>Punit — Engineering &amp; Tally protocol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721608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361188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F1B4C"/>
                </a:solidFill>
                <a:latin typeface="Calibri"/>
              </a:rPr>
              <a:t>Kritika — UX, Brand &amp; Customer Success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4178808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406908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F1B4C"/>
                </a:solidFill>
                <a:latin typeface="Calibri"/>
              </a:rPr>
              <a:t>Headquartered in Raipur, Chhattisgarh, India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" y="4636008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52628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F1B4C"/>
                </a:solidFill>
                <a:latin typeface="Calibri"/>
              </a:rPr>
              <a:t>AI-augmented engineering — daily build, daily test, daily ship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5166360"/>
            <a:ext cx="10698480" cy="109728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25780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0F1B4C"/>
                </a:solidFill>
                <a:latin typeface="Calibri"/>
              </a:rPr>
              <a:t>Our biggest moat is operational velocity — we ship and verify against live customer Tally data every week. A larger competitor would take a quarter to do what we ship in a sprint.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64748B"/>
                </a:solidFill>
                <a:latin typeface="Calibri"/>
              </a:rPr>
              <a:t>Jodidar India · FLOWRA Insights · Organize. Automate. Accelerate.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Calibri"/>
              </a:rPr>
              <a:t>Detailed  ·  Slide 15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515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0F1B4C"/>
                </a:solidFill>
                <a:latin typeface="Calibri"/>
              </a:rPr>
              <a:t>12-Month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74519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563EB"/>
                </a:solidFill>
                <a:latin typeface="Calibri"/>
              </a:rPr>
              <a:t>From pilot to 500+ paying SMEs.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807208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69748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F1B4C"/>
                </a:solidFill>
                <a:latin typeface="Calibri"/>
              </a:rPr>
              <a:t>Q1 — WhatsApp automation (AiSensy / Meta Cloud) + AI Calling bot for recovery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264408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15468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F1B4C"/>
                </a:solidFill>
                <a:latin typeface="Calibri"/>
              </a:rPr>
              <a:t>Q2 — GST Portal integration + FLOWRA Loyalty v1 GA + Google Drive document store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721608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361188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F1B4C"/>
                </a:solidFill>
                <a:latin typeface="Calibri"/>
              </a:rPr>
              <a:t>Q3 — Hindi UI complete + ONDC connector + Open Account-Aggregator pull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4178808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406908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F1B4C"/>
                </a:solidFill>
                <a:latin typeface="Calibri"/>
              </a:rPr>
              <a:t>Q4 — Iframe / API for ERP partners + India-first AI co-pilot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" y="4636008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52628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F1B4C"/>
                </a:solidFill>
                <a:latin typeface="Calibri"/>
              </a:rPr>
              <a:t>Always-on — daily product polish driven by pilot customer feedback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5166360"/>
            <a:ext cx="10698480" cy="109728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25780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0F1B4C"/>
                </a:solidFill>
                <a:latin typeface="Calibri"/>
              </a:rPr>
              <a:t>Every roadmap item is already specced and prioritised in our PRD.md (versioned in repo). We do not run on guesswork — every quarter's deliverables are visible to pilot customers.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64748B"/>
                </a:solidFill>
                <a:latin typeface="Calibri"/>
              </a:rPr>
              <a:t>Jodidar India · FLOWRA Insights · Organize. Automate. Accelerate.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400" b="1">
                <a:solidFill>
                  <a:srgbClr val="0F1B4C"/>
                </a:solidFill>
                <a:latin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2563EB"/>
                </a:solidFill>
                <a:latin typeface="Calibri"/>
              </a:rPr>
              <a:t>Let's build the operating system for Indian SMEs together.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3192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F1B4C"/>
                </a:solidFill>
                <a:latin typeface="Calibri"/>
              </a:rPr>
              <a:t>·  Product — flowralive.in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34340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F1B4C"/>
                </a:solidFill>
                <a:latin typeface="Calibri"/>
              </a:rPr>
              <a:t>·  Founder — Ankit Sarawgi  ·  ankit@jodidarindia.in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75488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F1B4C"/>
                </a:solidFill>
                <a:latin typeface="Calibri"/>
              </a:rPr>
              <a:t>·  Company — Jodidar India, Raipur, Chhattisgarh, India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16636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F1B4C"/>
                </a:solidFill>
                <a:latin typeface="Calibri"/>
              </a:rPr>
              <a:t>·  Pitched at — Manthan X Founders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57784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F1B4C"/>
                </a:solidFill>
                <a:latin typeface="Calibri"/>
              </a:rPr>
              <a:t>·  Questions welcome — and demo available on request.</a:t>
            </a:r>
          </a:p>
        </p:txBody>
      </p:sp>
      <p:pic>
        <p:nvPicPr>
          <p:cNvPr id="11" name="Picture 10" descr="flowra-dispatch-post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1645920"/>
            <a:ext cx="2926080" cy="29260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64748B"/>
                </a:solidFill>
                <a:latin typeface="Calibri"/>
              </a:rPr>
              <a:t>Jodidar India · FLOWRA Insights · Organize. Automate. Accelerate.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