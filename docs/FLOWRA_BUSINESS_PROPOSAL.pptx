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3C5FD"/>
                </a:solidFill>
                <a:latin typeface="Calibri"/>
              </a:rPr>
              <a:t>FLOWRA ·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The Tally-native
business intelligence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63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BEAFE"/>
                </a:solidFill>
                <a:latin typeface="Calibri"/>
              </a:rPr>
              <a:t>Two-year plan to ₹7.5 Cr ARR · ₹4 Cr seed · Feb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0" y="457200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DC2626"/>
                </a:solidFill>
              </a:rPr>
              <a:t>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For investor &amp; partner review · Not for redistribution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5-second questions taking 30 minutes inside Tally.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FLOWRA Insights · Business Proposal · v1.0 ·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6096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Owner question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Today (Tally only)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How much is overdue from my top 10 customers?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4-step report → Excel → manual sort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Where is my salesman? What did he sell yesterday?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Phone call. WhatsApp screenshot.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Which 20 SKUs are dead inventory?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Custom report from CA, billed ₹2,000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Did the dispatch boy actually deliver invoice 5421?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Phone call to the godown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How does this month compare to same month last year?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Two reports, side by side, on paper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669280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Calibri"/>
              </a:rPr>
              <a:t>FLOWRA reduces each of these to a tap.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18 modules already in production. Read-only Tally agent.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FLOWRA Insights · Business Proposal · v1.0 ·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3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84048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840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Visibility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5661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Owner Dashboard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Sales Analytics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Inventory Pareto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AI Insights (GPT-5.2)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384048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3840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2763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5661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CRM with FIFO ageing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Salesman Beat Plans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Dispatch Kanban Terminal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Sync History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554480"/>
            <a:ext cx="3840480" cy="411480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554480"/>
            <a:ext cx="3840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2763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194560"/>
            <a:ext cx="35661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CA Corner: P&amp;L, BS, Cash Flow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GST-ready exports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Audit logs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 Daily backups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The Tally Sync Agent is our moat — 6+ months of XML edge cases competitors must repeat.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11.5 lakh addressable Indian SMEs · ₹3,450 Cr 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FLOWRA Insights · Business Proposal · v1.0 ·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4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33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Tally + Busy seats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Fit %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Addressable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Manufacturing SMEs (₹5–500 Cr)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4.5 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3.2 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Distribution / FMCG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6.5 L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5.2 L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Retail chains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5.0 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2.0 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Pharma / Chemicals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1.5 L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1.1 L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17.5 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11.5 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029200"/>
            <a:ext cx="3749039" cy="128016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0.05%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575 tenants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₹1.7 Cr ARR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5029200"/>
            <a:ext cx="3749039" cy="1280160"/>
          </a:xfrm>
          <a:prstGeom prst="rect">
            <a:avLst/>
          </a:prstGeom>
          <a:solidFill>
            <a:srgbClr val="2563EB"/>
          </a:solidFill>
          <a:ln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512064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0.5%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5321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5,750 tenants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9436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₹17 Cr ARR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5029200"/>
            <a:ext cx="3749039" cy="1280160"/>
          </a:xfrm>
          <a:prstGeom prst="rect">
            <a:avLst/>
          </a:prstGeom>
          <a:solidFill>
            <a:srgbClr val="10B981"/>
          </a:solidFill>
          <a:ln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512064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2% 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5321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23,000 tenants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94360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₹68 Cr ARR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Nobody else reads from Tally without asking customer to migrate.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FLOWRA Insights · Business Proposal · v1.0 ·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5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096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Player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 they win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 we win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Zoho Books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Cloud accounting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All-in-one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Customer must migrate off Tally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Vyapar / Marg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Tally alternative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Mobile billing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Replaces Tally — non-starter for 95%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Khatabook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Khata only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Free tier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No analytics, inventory, dispatch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Tally on Cloud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Lift-and-shift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Same UI as Tally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Still no dashboards or mobile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Power BI / Tableau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BI tools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Powerful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Needs IT team; ₹50k+ to set up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5216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Our wedge: zero-migration. Owner gets dashboards in 20 min. CA stays on Tally.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Pricing &amp;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Blended ARPU ₹2,499/mo · LTV/CAC 13×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FLOWRA Insights · Business Proposal · v1.0 ·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6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₹/month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Companies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Employees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Modules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Starter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999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Dashboard + Sales + Inventory + Sync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Professional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2,499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+ CRM + Analytics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3,799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+ Salesman + Dispatch + AI + CA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657600"/>
            <a:ext cx="3749039" cy="10972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ARPU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Calibri"/>
              </a:rPr>
              <a:t>₹2,499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/mo blended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657600"/>
            <a:ext cx="3749039" cy="10972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7033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Gross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97764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Calibri"/>
              </a:rPr>
              <a:t>78%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4348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post all infra costs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657600"/>
            <a:ext cx="3749039" cy="10972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7033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CAC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97764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Calibri"/>
              </a:rPr>
              <a:t>₹3,200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4348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blended Y1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37760"/>
            <a:ext cx="3749039" cy="10972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98348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Payback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5780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Calibri"/>
              </a:rPr>
              <a:t>3.5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1500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industry: 12 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4937760"/>
            <a:ext cx="3749039" cy="10972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98348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LTV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25780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Calibri"/>
              </a:rPr>
              <a:t>₹85,000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71500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5-yr, 2% churn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4937760"/>
            <a:ext cx="3749039" cy="109728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98348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LTV/CAC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25780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Calibri"/>
              </a:rPr>
              <a:t>13×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71500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industry: 3-5×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Why this scales profitably.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FLOWRA Insights · Business Proposal · v1.0 ·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7 / 19</a:t>
            </a:r>
          </a:p>
        </p:txBody>
      </p:sp>
      <p:pic>
        <p:nvPicPr>
          <p:cNvPr id="7" name="Picture 6" descr="unit_e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75" y="1463040"/>
            <a:ext cx="10532745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893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Calibri"/>
              </a:rPr>
              <a:t>LTV ₹85,000 · CAC ₹6,500 · Payback 3.5 mo · 78% gross margin.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Beachhead: distribution sector in MH/GJ/KA.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FLOWRA Insights · Business Proposal · v1.0 ·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8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 new tenants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CAC (₹)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Meta Ads (FB + IG lead forms)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4,000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Geo: MH/GJ/KA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WhatsApp organic + referral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Founder net + early-customer ref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YouTube content (Tally tutorials)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SEO long-tail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CA partner programme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3,500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Year 2 trigger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Trade shows + Tally events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High-trust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Outbound (cold WA)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6,000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Closing inbound demos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BLENDED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3,200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Drops to ₹2,400 by M18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76072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Funnel: 10,000 impressions → 22 paying tenants → ₹54,978 new MRR / ₹50k spend.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Acquisition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Per ₹50k Meta-ad spend cohort.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FLOWRA Insights · Business Proposal · v1.0 ·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9 / 19</a:t>
            </a:r>
          </a:p>
        </p:txBody>
      </p:sp>
      <p:pic>
        <p:nvPicPr>
          <p:cNvPr id="7" name="Picture 6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204" y="1463040"/>
            <a:ext cx="8579286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893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Calibri"/>
              </a:rPr>
              <a:t>3.5-month CAC payback at 78% gross margin.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Traction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Already shipped. What's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FLOWRA Insights · Business Proposal · v1.0 ·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10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57784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Calibri"/>
              </a:rPr>
              <a:t>Already shipped (Feb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3035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18 production modules + 120+ regression tests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Tally Sync Agent v9.8.9 with Day-Book LVD fallback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Multi-tenant + 6 roles (admin, dispatch, salesman, employee, super_admin, flowra_staff)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Windows GUI + system-tray + auto-start build kit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AI Insights (GPT-5.2 expense narratives)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Production Operations Playbook (18 pages)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5577840" cy="457200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Next 12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53035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Q1: Atlas + DO + CI/CD + Sentry (production hardening)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Q2: GST Portal + WhatsApp BSP + Audit log CSV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Q3: Mobile app (React Native), advanced beat optimiser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Q4: CA partner programme + white-label (alpha)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0F172A"/>
                </a:solidFill>
                <a:latin typeface="Calibri"/>
              </a:rPr>
              <a:t>•  Code-signed installer + auto-update channel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Team &amp; Hiring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From 1 founder today → 16 FTE by Year 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FLOWRA Insights · Business Proposal · v1.0 ·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11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1435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 6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 12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 24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Sales &amp; demos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Customer Success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Marketing / Content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Operations / Finance / HR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TOTAL FTE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Monthly burn (₹ L)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6.3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14.5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31.5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76072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Engineering hires the first quarter; sales scales fastest in months 6-18.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Technical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Cost-per-tenant asymptotes near ₹45/mo. Margin improves with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FLOWRA Insights · Business Proposal · v1.0 ·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12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33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Tenants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 ₹/tenant/mo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Single droplet + Atlas M10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₹130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+ Redis cache, CDN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₹70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Atlas M20 + read replica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₹47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Horizontal API, queue-based ingest, sharding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₹45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10,000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Per-region clusters, multi-master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₹45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029200"/>
            <a:ext cx="11430000" cy="137160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Reliability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Year 1: 99.5% uptime · Year 2: 99.9% · RPO 1 hr · RTO 30 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Tenant Growth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24-month plan with bear / base / bull sensitivity.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FLOWRA Insights · Business Proposal · v1.0 ·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13 / 19</a:t>
            </a:r>
          </a:p>
        </p:txBody>
      </p:sp>
      <p:pic>
        <p:nvPicPr>
          <p:cNvPr id="7" name="Picture 6" descr="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674" y="1463040"/>
            <a:ext cx="8748346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893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Calibri"/>
              </a:rPr>
              <a:t>Default-alive at M30. Series A target: M24 at ₹7.5 Cr ARR.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24-Month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1,000 tenants by M12 → 2,500 by M24 → ₹7.5 Cr ARR.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FLOWRA Insights · Business Proposal · v1.0 ·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14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6858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Cum. paying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MRR (₹L)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ARR (₹Cr)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280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25.0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1,750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43.7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5.2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62.5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0" y="1554480"/>
            <a:ext cx="4114800" cy="3291840"/>
          </a:xfrm>
          <a:prstGeom prst="rect">
            <a:avLst/>
          </a:prstGeom>
          <a:solidFill>
            <a:srgbClr val="F8FAFC"/>
          </a:solidFill>
          <a:ln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6916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Sensitivity at M24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1945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Bear · 0.6× exec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5146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alibri"/>
              </a:rPr>
              <a:t>₹4.5 Cr ARR · 1,500 tenants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9718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Base ·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2918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₹7.5 Cr ARR · 2,500 tenants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749039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Bull · CA partner unlock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069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₹10.5 Cr ARR · 3,500 tenants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EBITDA-positive: Month 30. Default-alive: Month 30 with current trajectory.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Two-Year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Quarter-by-quarter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FLOWRA Insights · Business Proposal · v1.0 ·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15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08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Theme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milestones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Tenants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Y1 Q1 (Mar–May)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Foundation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Atlas + DO + CI/CD + Sentry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Y1 Q2 (Jun–Aug)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GTM ignition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GST Portal, WhatsApp digest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Y1 Q3 (Sep–Nov)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Salesman wedge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Mobile-responsive, beat optimiser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550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Y1 Q4 (Dec–Feb)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Year-1 close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Mobile alpha, audit-log CSV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Y2 Q1 (Mar–May)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Mobile + partner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Mobile GA, CA programme open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1,400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Y2 Q2 (Jun–Aug)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Geo expand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Push to N. India + TN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1,800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Y2 Q3 (Sep–Nov)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Enterprise tier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SSO, API, white-label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2,200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Y2 Q4 (Dec–Feb)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Series A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₹15-20 Cr round closes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What could go wrong, and what we're doing about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FLOWRA Insights · Business Proposal · v1.0 ·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16 /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257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Likelihood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Tally Solutions launches competing dashboard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We own dispatch + salesman they don't focus 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Customer Tally version too old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Already supports ERP 9 + Prime; agent degrades gracefully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Meta WhatsApp policy tightens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Diversify to SMS + email; user-initiated WA only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Founder bus factor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Hire technical co-lead by M6; documented Production Playbook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CAC inflation (Meta)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Diversify to YouTube + organic + CA partner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GST policy change breaks sync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Read-only consumer; we follow Tally's adaptation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Customer data breach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Catastrophic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Atlas encryption, TLS, pen-test M4, cyber insurance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Five tailwinds aligning in the same 24-month window.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FLOWRA Insights · Business Proposal · v1.0 ·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17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GST + e-invoicing mandate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Forces every ₹5 Cr+ business to keep accurate Tally books — quality of source data is rising fast.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DPDP Act (Indian data privacy)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Lift-and-shift cloud SaaS lose trust. We are data-residency-friendly: customer's books stay in India.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WhatsApp Business API maturing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Zero-friction notifications now reliable. Was clunky 18 months ago.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Mobile-first owners in tier-2/3 cities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~70% prefer phone over desktop for daily insights — perfect fit for our digest model.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0352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Tally Solutions moving slowly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Their 'Tally on AWS' has zero analytics. The wedge is wide open for 24-36 months.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43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₹4 Cr Seed at ₹16-20 Cr post-money.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FLOWRA Insights · Business Proposal · v1.0 · Feb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18 /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029200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93C5FD"/>
                </a:solidFill>
                <a:latin typeface="Calibri"/>
              </a:rPr>
              <a:t>RAISING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₹4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DBEAFE"/>
                </a:solidFill>
                <a:latin typeface="Calibri"/>
              </a:rPr>
              <a:t>at ₹16-20 Cr post-money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24 months runway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Series A target: M24 at ₹7.5 Cr ARR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852160" y="1737360"/>
          <a:ext cx="60350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5878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 of funds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₹ Cr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101600" marR="101600" marT="50800" marB="50800"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Engineering hires (5 FTE × 24m)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Sales + CS hires (8 FTE × 24m)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Marketing / acquisition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Infra + tooling + compliance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Working capital buffer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0.4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852160" y="59436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Calibri"/>
              </a:rPr>
              <a:t>Funded milestones: M12 → 1,000 tenants · M24 → 2,500 tenants · ₹7.5 Cr ARR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2286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887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We don't ask the customer to change anything.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1887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We just turn on the lights.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DBEAFE"/>
                </a:solidFill>
                <a:latin typeface="Calibri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FLOWRA Insights · founders@flowra.in · Feb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